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Relationship Id="rId4" Type="http://schemas.openxmlformats.org/officeDocument/2006/relationships/image" Target="../media/image7.jpg"/><Relationship Id="rId5" Type="http://schemas.openxmlformats.org/officeDocument/2006/relationships/image" Target="../media/image11.jpg"/><Relationship Id="rId6" Type="http://schemas.openxmlformats.org/officeDocument/2006/relationships/image" Target="../media/image14.jpg"/><Relationship Id="rId7" Type="http://schemas.openxmlformats.org/officeDocument/2006/relationships/image" Target="../media/image9.jpg"/><Relationship Id="rId8" Type="http://schemas.openxmlformats.org/officeDocument/2006/relationships/image" Target="../media/image13.jpg"/><Relationship Id="rId9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.jpg"/><Relationship Id="rId4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1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gif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Relationship Id="rId5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翰林版｜三年級上學期｜自然科學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6583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66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奇妙的溶解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46120"/>
            <a:ext cx="237744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第 4 單元｜4 節課｜溶解・快慢與濃淡・生活應用</a:t>
            </a:r>
          </a:p>
        </p:txBody>
      </p:sp>
      <p:pic>
        <p:nvPicPr>
          <p:cNvPr id="7" name="Picture 6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468" y="1463040"/>
            <a:ext cx="3032822" cy="310896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115 學年度　11/30、12/3、12/7、12/10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這 4 節課，我們要一起做這些事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515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37943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11/30 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756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什麼是溶解？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293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觀察五招 → 溶解與不溶解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70632"/>
            <a:ext cx="10515600" cy="1024128"/>
          </a:xfrm>
          <a:prstGeom prst="roundRect">
            <a:avLst/>
          </a:prstGeom>
          <a:solidFill>
            <a:srgbClr val="F3EEE1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08376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803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12/3 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461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溶解的快慢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998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攪拌・水溫・顆粒大小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41064"/>
            <a:ext cx="10515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7880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5079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12/7 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16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溶液的濃淡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2702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量筒讀數・濃度・飽和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11496"/>
            <a:ext cx="10515600" cy="1024128"/>
          </a:xfrm>
          <a:prstGeom prst="roundRect">
            <a:avLst/>
          </a:prstGeom>
          <a:solidFill>
            <a:srgbClr val="F3EEE1"/>
          </a:solidFill>
          <a:ln>
            <a:solidFill>
              <a:srgbClr val="E6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4924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2122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12/10 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8698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溶解與生活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4406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廚房與清潔、測驗 10 題、線上對戰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第 1 節｜什麼是溶解？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今天的三個任務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① 用五種感官觀察物質：摸、看、聞、放大鏡、嚐（老師確認才安全）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5570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4747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② 動手實測，把結果記錄在學習單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529437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2120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③ 找出規律：什麼東西會溶解？溶解是什麼意思？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觀察物質的五種方法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先學會安全地觀察</a:t>
            </a:r>
          </a:p>
        </p:txBody>
      </p:sp>
      <p:pic>
        <p:nvPicPr>
          <p:cNvPr id="7" name="Picture 6" descr="m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54660"/>
            <a:ext cx="1942185" cy="129147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313" y="2575414"/>
            <a:ext cx="1942185" cy="124997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667" y="2426771"/>
            <a:ext cx="1942185" cy="154725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020" y="2525615"/>
            <a:ext cx="1942185" cy="134956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1" name="Picture 10" descr="m01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374" y="2525615"/>
            <a:ext cx="1942185" cy="134956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用手摸　｜　用眼睛看　｜　用放大鏡　｜　搗聞氣味　｜　用嘴巴嘗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安全守則：不明的物質不摸、不聞、不嘗；</a:t>
            </a:r>
          </a:p>
          <a:p>
            <a:pPr algn="l">
              <a:lnSpc>
                <a:spcPct val="135000"/>
              </a:lnSpc>
            </a:pPr>
            <a:r>
              <a:rPr sz="19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聞味道要用鼻子聞、手輕扇，不是湊近吸。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先猜一猜，再動手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你覺得哪幾個會溶解？</a:t>
            </a:r>
          </a:p>
        </p:txBody>
      </p:sp>
      <p:pic>
        <p:nvPicPr>
          <p:cNvPr id="7" name="Picture 6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25" y="1645920"/>
            <a:ext cx="1641292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217" y="1645920"/>
            <a:ext cx="681892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959" y="1645920"/>
            <a:ext cx="1406792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3536" y="1645920"/>
            <a:ext cx="1952022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1" name="Picture 10" descr="m0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228" y="3529584"/>
            <a:ext cx="1753487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2" name="Picture 11" descr="m0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615" y="3529584"/>
            <a:ext cx="1107096" cy="168249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3" name="Picture 12" descr="m0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8375" y="3529584"/>
            <a:ext cx="1703961" cy="168249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4" name="Picture 13" descr="m04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0536" y="3803860"/>
            <a:ext cx="2478023" cy="113394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食鹽・蜂蜜・麵粉・小石子・黑胡椒粒・胡椒粒・黑糖・芝麻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怎麼測才公平？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每個人都用同樣的方法，結果才能比較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用同樣的水量（都用 100 毫升）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8712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用同樣的杯子，同樣的水溫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2277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每一樣都攪拌 10 秒，再看結果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97433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8920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溶解了 → 打「✓」；還看得見顆粒 → 打「✗」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實驗結果：分成兩堆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2C7FB8"/>
                </a:solidFill>
                <a:latin typeface="微軟正黑體"/>
                <a:ea typeface="微軟正黑體"/>
                <a:cs typeface="微軟正黑體"/>
              </a:rPr>
              <a:t>✓ 會溶解</a:t>
            </a:r>
          </a:p>
        </p:txBody>
      </p:sp>
      <p:pic>
        <p:nvPicPr>
          <p:cNvPr id="7" name="Picture 6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16896"/>
            <a:ext cx="1138428" cy="116700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404" y="2638356"/>
            <a:ext cx="1138428" cy="112408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349" y="2103120"/>
            <a:ext cx="889425" cy="219456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1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292" y="2335344"/>
            <a:ext cx="1138428" cy="173011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0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✗ 不會溶解</a:t>
            </a:r>
          </a:p>
        </p:txBody>
      </p:sp>
      <p:pic>
        <p:nvPicPr>
          <p:cNvPr id="12" name="Picture 11" descr="m00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936764"/>
            <a:ext cx="1138428" cy="52727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3" name="Picture 12" descr="m01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244" y="2709780"/>
            <a:ext cx="1138428" cy="98123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4" name="Picture 13" descr="m0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3688" y="2939927"/>
            <a:ext cx="1138428" cy="52094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5" name="Picture 14" descr="m0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0132" y="2519631"/>
            <a:ext cx="1138428" cy="136153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食鹽・黑糖・蜂蜜・胡椒粒　｜　細沙・小石子・芝麻・麵粉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你的那一組，結果也一樣嗎？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結論：什麼叫「溶解」？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溶解＝物質均勻地分散在水裡，看不見顆粒。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17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溶解後，整杯水到處都一樣（溶液是均一的）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40142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9319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物質沒有不見，總質量不變（可以秤重量證明）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92861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8463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不溶解的東西會沉在杯底，水還是水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所以：「看不見」不等於「消失」——這是最容易搞錯的地方！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常見迷思：溶解＝看不見＝消失？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不對！物質只是散開了</a:t>
            </a:r>
          </a:p>
        </p:txBody>
      </p:sp>
      <p:pic>
        <p:nvPicPr>
          <p:cNvPr id="7" name="Picture 6" descr="m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383111"/>
            <a:ext cx="1755648" cy="172601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776" y="2346258"/>
            <a:ext cx="1755648" cy="1799722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783080"/>
            <a:ext cx="1755647" cy="292607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766560" y="182880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把糖放進水裡，</a:t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用眼睛看不見顆粒，</a:t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但重量沒有減少。</a:t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溶到水裡的糖，</a:t>
            </a:r>
          </a:p>
          <a:p>
            <a:pPr algn="l">
              <a:lnSpc>
                <a:spcPct val="150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還是那些糖。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小提醒：把鹽水倒掉，鹽會跟著水一起走——它沒有不見。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第 2 節｜溶解的快慢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今天要找出三個祕訣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同樣的糖，怎麼有的溶解快、有的慢？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水溫、攪拌、顆粒大小，哪一個最有用？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7997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做一個公平的小實驗來證明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讓溶解變快的三個方法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91" y="1691640"/>
            <a:ext cx="2827225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216" y="2082308"/>
            <a:ext cx="3371088" cy="223618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472" y="2088507"/>
            <a:ext cx="3371088" cy="222378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① 攪拌　　② 提高水溫　　③ 顆粒變小（敲碎）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想一想：哪一個方法對「溶解的速度」影響最大？我們來比一比。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祕訣一：攪拌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941" y="1691640"/>
            <a:ext cx="2918732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559" y="1691640"/>
            <a:ext cx="2827225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955279" y="1783080"/>
            <a:ext cx="3657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大力攪拌：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水一直流動，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糖很快散開。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輕輕攪拌：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溶解得比較慢。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為什麼？水一直在動，糖才能到處「被水沖刷」。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祕訣二：提高水溫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78511"/>
            <a:ext cx="2478024" cy="1643776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957159"/>
            <a:ext cx="2478024" cy="248648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731717"/>
            <a:ext cx="2478024" cy="293736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750" y="1691640"/>
            <a:ext cx="2407595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溫水　｜　加冰塊（冷水）　｜　提高水溫　｜　放進冰箱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結論：水越熱，溶解得越快。（放進冰箱反而最慢）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祕訣三：把顆粒變小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40905"/>
            <a:ext cx="1999487" cy="131898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616" y="2540905"/>
            <a:ext cx="1999487" cy="131898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3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272" y="2540905"/>
            <a:ext cx="1999487" cy="131898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89520" y="1828800"/>
            <a:ext cx="4023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半匙　｜　一平匙　｜　尖尖一匙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顆粒越小、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接觸面積越大，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溶解越快。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所以把糖敲碎、把鹽磨細，會溶解得比較快。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要比較快慢，條件要一樣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同樣的糖、同樣的量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712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同樣的水量、同一個杯子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92277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404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同一個水溫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97433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8920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只改「攪拌方式」或「水溫」其中一個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一次只改一個條件，這樣才知道是誰造成的差別。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第 3 節｜溶液的濃淡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今天要用「量」來說話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怎麼用眼睛量水的體積？（量筒）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讀量筒的時候，眼睛要放哪裡？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7997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多溶一點、少溶一點，差在哪裡？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量筒要這樣看才對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07" y="1691640"/>
            <a:ext cx="1806728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718" y="1691640"/>
            <a:ext cx="1768891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451" y="1691640"/>
            <a:ext cx="1787809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4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2021256"/>
            <a:ext cx="2478024" cy="235828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俯視（偏大）　｜　平視（正確）　｜　仰視（偏小）　｜　讀刻度示意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口訣：眼睛和凹面最低處一樣高。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有多濃？水多還是糖多？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90763"/>
            <a:ext cx="1645920" cy="221927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896" y="2090763"/>
            <a:ext cx="1645920" cy="221927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657523"/>
            <a:ext cx="1645920" cy="108575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2657523"/>
            <a:ext cx="1645920" cy="108575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3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2857257"/>
            <a:ext cx="1645920" cy="68628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1" name="Picture 10" descr="m03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2848533"/>
            <a:ext cx="1645920" cy="703732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水 50 毫升　｜　水 100 毫升　｜　半匙　｜　一平匙　｜　尖尖一匙（一）　｜　尖尖一匙（二）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同樣多的水，溶的糖越多 → 溶液越濃。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溶到不能再溶：飽和溶液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4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26" y="1691640"/>
            <a:ext cx="1976075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1960128"/>
            <a:ext cx="2121408" cy="248054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2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798755"/>
            <a:ext cx="2121408" cy="2803289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955279" y="1783080"/>
            <a:ext cx="3657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水裡的糖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已經到極限了。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再加油，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糖就沉在杯底，</a:t>
            </a:r>
          </a:p>
          <a:p>
            <a:pPr algn="l">
              <a:lnSpc>
                <a:spcPct val="145000"/>
              </a:lnSpc>
            </a:pPr>
            <a:r>
              <a:rPr sz="21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不會再溶解。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飽和＝「溶到最多」，不是「溶得最快」。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溫度也會改變「能溶多少」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3" y="1691640"/>
            <a:ext cx="2217776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996" y="1691640"/>
            <a:ext cx="2204335" cy="3017520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3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441201"/>
            <a:ext cx="2478024" cy="151839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1957159"/>
            <a:ext cx="2478024" cy="248648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水 20℃　｜　水 50℃　｜　降低水溫　｜　加冰塊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把飽和糖水放進冰箱，會析出結晶——因為溶得變少了。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第 4 節｜溶解與生活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找一找：溶解藏在哪裡？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1965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廚房裡的哪些事，是溶解？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9981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清潔、洗衣為什麼有效？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79975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97679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曬衣服、水溝不通，又是什麼原理？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廚房裡的溶解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00084"/>
            <a:ext cx="1202436" cy="80063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412" y="2614597"/>
            <a:ext cx="1202436" cy="117160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5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2264513"/>
            <a:ext cx="1202436" cy="1871772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6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316" y="2480190"/>
            <a:ext cx="1202436" cy="1440418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6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392726"/>
            <a:ext cx="1202436" cy="161534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1" name="Picture 10" descr="m06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20" y="2734456"/>
            <a:ext cx="1202436" cy="931887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2" name="Picture 11" descr="m07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672" y="2776712"/>
            <a:ext cx="1202436" cy="84737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3" name="Picture 12" descr="m06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6124" y="2685844"/>
            <a:ext cx="1202436" cy="102911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煮湯加鹽・咖啡加糖・開水加維他命・紅茶加糖・奶茶加珍珠・鮮奶加麥片・豆漿加糖・蛋花湯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哪些真的溶解了？哪些只是「泡著」？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4-3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清潔也是溶解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13903"/>
            <a:ext cx="1630680" cy="1881553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7" name="Picture 6" descr="m0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944" y="2390122"/>
            <a:ext cx="1630680" cy="152911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8" name="Picture 7" descr="m05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928" y="2578454"/>
            <a:ext cx="1630680" cy="115245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9" name="Picture 8" descr="m07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2479347"/>
            <a:ext cx="1630680" cy="1350664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0" name="Picture 9" descr="m07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0895" y="2572574"/>
            <a:ext cx="1630680" cy="1164211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pic>
        <p:nvPicPr>
          <p:cNvPr id="11" name="Picture 10" descr="m07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7879" y="2309142"/>
            <a:ext cx="1630680" cy="1691075"/>
          </a:xfrm>
          <a:prstGeom prst="rect">
            <a:avLst/>
          </a:prstGeom>
          <a:ln w="12700">
            <a:solidFill>
              <a:srgbClr val="E2DAC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lang="zh-TW">
                <a:solidFill>
                  <a:srgbClr val="6E8A94"/>
                </a:solidFill>
                <a:latin typeface="微軟正黑體"/>
                <a:ea typeface="微軟正黑體"/>
                <a:cs typeface="微軟正黑體"/>
              </a:rPr>
              <a:t>洗衣膠囊・清潔劑除垢・小蘇打洗餐具・肥皂洗手・沖掉泥沙・通樂清水管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清潔劑溶解並帶走油汙，再用清水沖掉——這就是溶解的應用。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統整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4572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溶解三件事，你記得了嗎？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2011680" cy="50800"/>
          </a:xfrm>
          <a:prstGeom prst="rect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7393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① 溶解＝物質均勻分散在水裡，物質沒有消失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82549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② 攪拌、水溫高、顆粒小，溶解會變快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77056"/>
            <a:ext cx="118872" cy="118872"/>
          </a:xfrm>
          <a:prstGeom prst="ellipse">
            <a:avLst/>
          </a:prstGeom>
          <a:solidFill>
            <a:srgbClr val="C8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7947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zh-TW">
                <a:solidFill>
                  <a:srgbClr val="1D4E5F"/>
                </a:solidFill>
                <a:latin typeface="微軟正黑體"/>
                <a:ea typeface="微軟正黑體"/>
                <a:cs typeface="微軟正黑體"/>
              </a:rPr>
              <a:t>③ 水少糖多就濃；溶到不能再溶就是飽和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lang="zh-TW">
                <a:solidFill>
                  <a:srgbClr val="C86A2B"/>
                </a:solidFill>
                <a:latin typeface="微軟正黑體"/>
                <a:ea typeface="微軟正黑體"/>
                <a:cs typeface="微軟正黑體"/>
              </a:rPr>
              <a:t>挑戰：打開教學網頁，做 10 題測驗，再找同學兩人對戰！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奇妙的溶解｜翰林三上自然 第4單元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100" b="0" lang="zh-TW">
                <a:solidFill>
                  <a:srgbClr val="A9A08E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